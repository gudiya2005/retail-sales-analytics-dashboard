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Semi-Bold" charset="1" panose="000007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 Bold Italics" charset="1" panose="00000800000000000000"/>
      <p:regular r:id="rId19"/>
    </p:embeddedFont>
    <p:embeddedFont>
      <p:font typeface="Canva Sans Bold Italics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8103" y="-712357"/>
            <a:ext cx="21778605" cy="11711713"/>
            <a:chOff x="0" y="0"/>
            <a:chExt cx="5735929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5929" cy="3084567"/>
            </a:xfrm>
            <a:custGeom>
              <a:avLst/>
              <a:gdLst/>
              <a:ahLst/>
              <a:cxnLst/>
              <a:rect r="r" b="b" t="t" l="l"/>
              <a:pathLst>
                <a:path h="3084567" w="5735929">
                  <a:moveTo>
                    <a:pt x="0" y="0"/>
                  </a:moveTo>
                  <a:lnTo>
                    <a:pt x="5735929" y="0"/>
                  </a:lnTo>
                  <a:lnTo>
                    <a:pt x="5735929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35929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6608" y="2920797"/>
            <a:ext cx="17294784" cy="701247"/>
            <a:chOff x="0" y="0"/>
            <a:chExt cx="4555005" cy="1846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55005" cy="184691"/>
            </a:xfrm>
            <a:custGeom>
              <a:avLst/>
              <a:gdLst/>
              <a:ahLst/>
              <a:cxnLst/>
              <a:rect r="r" b="b" t="t" l="l"/>
              <a:pathLst>
                <a:path h="184691" w="4555005">
                  <a:moveTo>
                    <a:pt x="0" y="0"/>
                  </a:moveTo>
                  <a:lnTo>
                    <a:pt x="4555005" y="0"/>
                  </a:lnTo>
                  <a:lnTo>
                    <a:pt x="4555005" y="184691"/>
                  </a:lnTo>
                  <a:lnTo>
                    <a:pt x="0" y="184691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55005" cy="22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7932" y="1171575"/>
            <a:ext cx="17294784" cy="140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5999" spc="-323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INSIGHTS &amp; SALES PERFORMANCE DASHBOARD FOR A RETAIL BUSINESS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7891" y="3049292"/>
            <a:ext cx="16012219" cy="48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CAPSTONE PROJECT – END-TO-END DATA ANALYTICS FOR BUSINESS GROWTH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74284" y="4437912"/>
            <a:ext cx="8262080" cy="196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b="true" sz="3045" spc="-6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  <a:p>
            <a:pPr algn="ctr">
              <a:lnSpc>
                <a:spcPts val="3045"/>
              </a:lnSpc>
            </a:pPr>
            <a:r>
              <a:rPr lang="en-US" sz="3045" i="true" spc="-60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GUDIYA KUMARI SHARMA</a:t>
            </a:r>
          </a:p>
          <a:p>
            <a:pPr algn="ctr">
              <a:lnSpc>
                <a:spcPts val="3045"/>
              </a:lnSpc>
            </a:pPr>
            <a:r>
              <a:rPr lang="en-US" sz="3045" i="true" spc="-60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ID : K-TECH-25-D8DD</a:t>
            </a:r>
          </a:p>
          <a:p>
            <a:pPr algn="ctr">
              <a:lnSpc>
                <a:spcPts val="3045"/>
              </a:lnSpc>
            </a:pPr>
            <a:r>
              <a:rPr lang="en-US" sz="3045" i="true" spc="-60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B.TECH CSE (AIML)</a:t>
            </a:r>
          </a:p>
          <a:p>
            <a:pPr algn="ctr">
              <a:lnSpc>
                <a:spcPts val="3045"/>
              </a:lnSpc>
            </a:pPr>
            <a:r>
              <a:rPr lang="en-US" sz="3045" i="true" spc="-60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ARKA JAIN UNIVERSITY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6608" y="6851439"/>
            <a:ext cx="17294784" cy="196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b="true" sz="3045" i="true" spc="-60">
                <a:solidFill>
                  <a:srgbClr val="1C212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PROJECT UNDER :</a:t>
            </a:r>
          </a:p>
          <a:p>
            <a:pPr algn="ctr">
              <a:lnSpc>
                <a:spcPts val="3045"/>
              </a:lnSpc>
            </a:pPr>
            <a:r>
              <a:rPr lang="en-US" sz="3045" i="true" spc="-60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IIT Kanpur Certified Data Analytics Program</a:t>
            </a:r>
          </a:p>
          <a:p>
            <a:pPr algn="ctr">
              <a:lnSpc>
                <a:spcPts val="3045"/>
              </a:lnSpc>
            </a:pPr>
          </a:p>
          <a:p>
            <a:pPr algn="ctr">
              <a:lnSpc>
                <a:spcPts val="3045"/>
              </a:lnSpc>
            </a:pPr>
            <a:r>
              <a:rPr lang="en-US" b="true" sz="3045" i="true" spc="-60">
                <a:solidFill>
                  <a:srgbClr val="1C212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Powered By :</a:t>
            </a:r>
          </a:p>
          <a:p>
            <a:pPr algn="ctr">
              <a:lnSpc>
                <a:spcPts val="3045"/>
              </a:lnSpc>
            </a:pPr>
            <a:r>
              <a:rPr lang="en-US" sz="3045" i="true" spc="-60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K-Tech Learn &amp; Prosper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1924786" cy="11057957"/>
          </a:xfrm>
          <a:custGeom>
            <a:avLst/>
            <a:gdLst/>
            <a:ahLst/>
            <a:cxnLst/>
            <a:rect r="r" b="b" t="t" l="l"/>
            <a:pathLst>
              <a:path h="11057957" w="1924786">
                <a:moveTo>
                  <a:pt x="0" y="0"/>
                </a:moveTo>
                <a:lnTo>
                  <a:pt x="1924786" y="0"/>
                </a:lnTo>
                <a:lnTo>
                  <a:pt x="1924786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5174" t="0" r="-27711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2281348" cy="10601584"/>
            <a:chOff x="0" y="0"/>
            <a:chExt cx="600849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0849" cy="2792187"/>
            </a:xfrm>
            <a:custGeom>
              <a:avLst/>
              <a:gdLst/>
              <a:ahLst/>
              <a:cxnLst/>
              <a:rect r="r" b="b" t="t" l="l"/>
              <a:pathLst>
                <a:path h="2792187" w="600849">
                  <a:moveTo>
                    <a:pt x="0" y="0"/>
                  </a:moveTo>
                  <a:lnTo>
                    <a:pt x="600849" y="0"/>
                  </a:lnTo>
                  <a:lnTo>
                    <a:pt x="600849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0849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5208" y="676932"/>
            <a:ext cx="14937004" cy="77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i="true" u="sng">
                <a:solidFill>
                  <a:srgbClr val="1C212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Business Problem Understanding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5208" y="2028208"/>
            <a:ext cx="15134092" cy="815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3399" spc="203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retail company faced several business challenges affecting growth and profitability.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b="true" sz="3399" spc="203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Major Problems: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Declining repeat customers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Uneven sales across regions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Low-performing product categories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Lack of centralized dashboard for decision-making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b="true" sz="3399" spc="203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Goal: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analyze sales, customer behavior, and product performance data to generate actionable business insights and improve decision-making.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2006704" y="4048350"/>
            <a:ext cx="11120242" cy="2128485"/>
            <a:chOff x="0" y="0"/>
            <a:chExt cx="3722592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2592" cy="712528"/>
            </a:xfrm>
            <a:custGeom>
              <a:avLst/>
              <a:gdLst/>
              <a:ahLst/>
              <a:cxnLst/>
              <a:rect r="r" b="b" t="t" l="l"/>
              <a:pathLst>
                <a:path h="712528" w="3722592">
                  <a:moveTo>
                    <a:pt x="34810" y="0"/>
                  </a:moveTo>
                  <a:lnTo>
                    <a:pt x="3687782" y="0"/>
                  </a:lnTo>
                  <a:cubicBezTo>
                    <a:pt x="3697014" y="0"/>
                    <a:pt x="3705868" y="3667"/>
                    <a:pt x="3712397" y="10196"/>
                  </a:cubicBezTo>
                  <a:cubicBezTo>
                    <a:pt x="3718925" y="16724"/>
                    <a:pt x="3722592" y="25578"/>
                    <a:pt x="3722592" y="34810"/>
                  </a:cubicBezTo>
                  <a:lnTo>
                    <a:pt x="3722592" y="677718"/>
                  </a:lnTo>
                  <a:cubicBezTo>
                    <a:pt x="3722592" y="696943"/>
                    <a:pt x="3707007" y="712528"/>
                    <a:pt x="3687782" y="712528"/>
                  </a:cubicBezTo>
                  <a:lnTo>
                    <a:pt x="34810" y="712528"/>
                  </a:lnTo>
                  <a:cubicBezTo>
                    <a:pt x="15585" y="712528"/>
                    <a:pt x="0" y="696943"/>
                    <a:pt x="0" y="677718"/>
                  </a:cubicBezTo>
                  <a:lnTo>
                    <a:pt x="0" y="34810"/>
                  </a:lnTo>
                  <a:cubicBezTo>
                    <a:pt x="0" y="15585"/>
                    <a:pt x="15585" y="0"/>
                    <a:pt x="3481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722592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7013" y="743280"/>
            <a:ext cx="10297918" cy="85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9"/>
              </a:lnSpc>
            </a:pPr>
            <a:r>
              <a:rPr lang="en-US" b="true" sz="5499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7013" y="1928057"/>
            <a:ext cx="6613419" cy="815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b="true" sz="3399" i="true" spc="203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Dataset Name: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 Superstore Dataset</a:t>
            </a:r>
          </a:p>
          <a:p>
            <a:pPr algn="l">
              <a:lnSpc>
                <a:spcPts val="4589"/>
              </a:lnSpc>
            </a:pPr>
          </a:p>
          <a:p>
            <a:pPr algn="l">
              <a:lnSpc>
                <a:spcPts val="4589"/>
              </a:lnSpc>
            </a:pPr>
            <a:r>
              <a:rPr lang="en-US" b="true" sz="3399" i="true" spc="203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Dataset Size: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9,994 rows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21 columns</a:t>
            </a:r>
          </a:p>
          <a:p>
            <a:pPr algn="l">
              <a:lnSpc>
                <a:spcPts val="4589"/>
              </a:lnSpc>
            </a:pPr>
          </a:p>
          <a:p>
            <a:pPr algn="l">
              <a:lnSpc>
                <a:spcPts val="4589"/>
              </a:lnSpc>
            </a:pPr>
            <a:r>
              <a:rPr lang="en-US" b="true" sz="3399" i="true" spc="203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Key Features: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Sales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Profit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Customer Segment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Product Category</a:t>
            </a:r>
          </a:p>
          <a:p>
            <a:pPr algn="l">
              <a:lnSpc>
                <a:spcPts val="4589"/>
              </a:lnSpc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Region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Order 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50116" y="1947107"/>
            <a:ext cx="6123561" cy="29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Tools Use</a:t>
            </a: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Python (Pandas, Matplotlib,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Scikit-learn)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Power BI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Google Colab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704" y="8260266"/>
            <a:ext cx="7692376" cy="7692376"/>
          </a:xfrm>
          <a:custGeom>
            <a:avLst/>
            <a:gdLst/>
            <a:ahLst/>
            <a:cxnLst/>
            <a:rect r="r" b="b" t="t" l="l"/>
            <a:pathLst>
              <a:path h="7692376" w="7692376">
                <a:moveTo>
                  <a:pt x="0" y="0"/>
                </a:moveTo>
                <a:lnTo>
                  <a:pt x="7692376" y="0"/>
                </a:lnTo>
                <a:lnTo>
                  <a:pt x="7692376" y="7692376"/>
                </a:lnTo>
                <a:lnTo>
                  <a:pt x="0" y="769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357" y="1009650"/>
            <a:ext cx="7999053" cy="85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b="true" sz="5500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 Found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357" y="2436620"/>
            <a:ext cx="13820455" cy="431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</a:t>
            </a:r>
            <a:r>
              <a:rPr lang="en-US" sz="3600" spc="215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onsumer segment generated highest sales revenue.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pc="21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Sales peaked during November and December.</a:t>
            </a:r>
          </a:p>
          <a:p>
            <a:pPr algn="l" marL="0" indent="0" lvl="0">
              <a:lnSpc>
                <a:spcPts val="5130"/>
              </a:lnSpc>
              <a:spcBef>
                <a:spcPct val="0"/>
              </a:spcBef>
            </a:pPr>
            <a:r>
              <a:rPr lang="en-US" sz="3800" spc="228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Technology category produced highest profit.</a:t>
            </a:r>
          </a:p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Some regions contributed significantly higher sales.</a:t>
            </a:r>
          </a:p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High-performing products should be prioritized for inventory planning.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441812" y="-5170031"/>
            <a:ext cx="7692376" cy="7692376"/>
          </a:xfrm>
          <a:custGeom>
            <a:avLst/>
            <a:gdLst/>
            <a:ahLst/>
            <a:cxnLst/>
            <a:rect r="r" b="b" t="t" l="l"/>
            <a:pathLst>
              <a:path h="7692376" w="7692376">
                <a:moveTo>
                  <a:pt x="0" y="0"/>
                </a:moveTo>
                <a:lnTo>
                  <a:pt x="7692376" y="0"/>
                </a:lnTo>
                <a:lnTo>
                  <a:pt x="7692376" y="7692376"/>
                </a:lnTo>
                <a:lnTo>
                  <a:pt x="0" y="769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340" y="1692352"/>
            <a:ext cx="17609532" cy="7968926"/>
            <a:chOff x="0" y="0"/>
            <a:chExt cx="4637901" cy="20988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7901" cy="2098812"/>
            </a:xfrm>
            <a:custGeom>
              <a:avLst/>
              <a:gdLst/>
              <a:ahLst/>
              <a:cxnLst/>
              <a:rect r="r" b="b" t="t" l="l"/>
              <a:pathLst>
                <a:path h="2098812" w="4637901">
                  <a:moveTo>
                    <a:pt x="0" y="0"/>
                  </a:moveTo>
                  <a:lnTo>
                    <a:pt x="4637901" y="0"/>
                  </a:lnTo>
                  <a:lnTo>
                    <a:pt x="4637901" y="2098812"/>
                  </a:lnTo>
                  <a:lnTo>
                    <a:pt x="0" y="2098812"/>
                  </a:lnTo>
                  <a:close/>
                </a:path>
              </a:pathLst>
            </a:custGeom>
            <a:solidFill>
              <a:srgbClr val="AAD7D4"/>
            </a:solidFill>
            <a:ln w="19050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7901" cy="2136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1944" y="1906914"/>
            <a:ext cx="13225318" cy="7539802"/>
          </a:xfrm>
          <a:custGeom>
            <a:avLst/>
            <a:gdLst/>
            <a:ahLst/>
            <a:cxnLst/>
            <a:rect r="r" b="b" t="t" l="l"/>
            <a:pathLst>
              <a:path h="7539802" w="13225318">
                <a:moveTo>
                  <a:pt x="0" y="0"/>
                </a:moveTo>
                <a:lnTo>
                  <a:pt x="13225318" y="0"/>
                </a:lnTo>
                <a:lnTo>
                  <a:pt x="13225318" y="7539802"/>
                </a:lnTo>
                <a:lnTo>
                  <a:pt x="0" y="753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9" t="-725" r="-50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8539" y="703654"/>
            <a:ext cx="13412110" cy="77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b="true" sz="5500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 Demo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4006902" y="1906914"/>
            <a:ext cx="0" cy="753980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150649" y="1840239"/>
            <a:ext cx="3604330" cy="389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true" u="sng">
                <a:solidFill>
                  <a:srgbClr val="1C212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Developed an interactive Power BI dashboard to visualize: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Revenue &amp; Profit KPIs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Monthly sales trends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Top-selling products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Customer segmentation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Region-wise sales performance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Interactive filters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462056" y="1796244"/>
            <a:ext cx="3363887" cy="18288000"/>
            <a:chOff x="0" y="0"/>
            <a:chExt cx="1017147" cy="5529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147" cy="5529789"/>
            </a:xfrm>
            <a:custGeom>
              <a:avLst/>
              <a:gdLst/>
              <a:ahLst/>
              <a:cxnLst/>
              <a:rect r="r" b="b" t="t" l="l"/>
              <a:pathLst>
                <a:path h="5529789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5529789"/>
                  </a:lnTo>
                  <a:lnTo>
                    <a:pt x="0" y="5529789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7147" cy="5567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41812" y="-5170031"/>
            <a:ext cx="7692376" cy="7692376"/>
          </a:xfrm>
          <a:custGeom>
            <a:avLst/>
            <a:gdLst/>
            <a:ahLst/>
            <a:cxnLst/>
            <a:rect r="r" b="b" t="t" l="l"/>
            <a:pathLst>
              <a:path h="7692376" w="7692376">
                <a:moveTo>
                  <a:pt x="0" y="0"/>
                </a:moveTo>
                <a:lnTo>
                  <a:pt x="7692376" y="0"/>
                </a:lnTo>
                <a:lnTo>
                  <a:pt x="7692376" y="7692376"/>
                </a:lnTo>
                <a:lnTo>
                  <a:pt x="0" y="769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017" y="2317459"/>
            <a:ext cx="11250596" cy="6033132"/>
          </a:xfrm>
          <a:custGeom>
            <a:avLst/>
            <a:gdLst/>
            <a:ahLst/>
            <a:cxnLst/>
            <a:rect r="r" b="b" t="t" l="l"/>
            <a:pathLst>
              <a:path h="6033132" w="11250596">
                <a:moveTo>
                  <a:pt x="0" y="0"/>
                </a:moveTo>
                <a:lnTo>
                  <a:pt x="11250596" y="0"/>
                </a:lnTo>
                <a:lnTo>
                  <a:pt x="11250596" y="6033132"/>
                </a:lnTo>
                <a:lnTo>
                  <a:pt x="0" y="6033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9034" y="482904"/>
            <a:ext cx="9578208" cy="77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964" y="1357598"/>
            <a:ext cx="9772385" cy="64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1"/>
              </a:lnSpc>
              <a:spcBef>
                <a:spcPct val="0"/>
              </a:spcBef>
            </a:pPr>
            <a:r>
              <a:rPr lang="en-US" b="true" sz="3579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Sales Forecasting using Linear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38975" y="2654146"/>
            <a:ext cx="6037784" cy="387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A Linear Regression model was used to forecast future sales trends using monthly sales data.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1C212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Model Performance: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• R² Score: 0.67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1C212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Outcome: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• The model successfully identified future sales patterns and seasonal growth trends.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• Forecasting can help businesses improve inventory planning and sales strategies.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1629425" y="1731210"/>
            <a:ext cx="0" cy="699726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9738" y="912763"/>
            <a:ext cx="14591586" cy="77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334"/>
              </a:lnSpc>
              <a:spcBef>
                <a:spcPct val="0"/>
              </a:spcBef>
            </a:pPr>
            <a:r>
              <a:rPr lang="en-US" b="true" sz="5499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5178451" y="0"/>
            <a:ext cx="6830714" cy="10287000"/>
            <a:chOff x="0" y="0"/>
            <a:chExt cx="2286638" cy="34436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638" cy="3443658"/>
            </a:xfrm>
            <a:custGeom>
              <a:avLst/>
              <a:gdLst/>
              <a:ahLst/>
              <a:cxnLst/>
              <a:rect r="r" b="b" t="t" l="l"/>
              <a:pathLst>
                <a:path h="344365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3386988"/>
                  </a:lnTo>
                  <a:cubicBezTo>
                    <a:pt x="2286638" y="3402018"/>
                    <a:pt x="2280667" y="3416432"/>
                    <a:pt x="2270040" y="3427060"/>
                  </a:cubicBezTo>
                  <a:cubicBezTo>
                    <a:pt x="2259412" y="3437687"/>
                    <a:pt x="2244998" y="3443658"/>
                    <a:pt x="2229968" y="3443658"/>
                  </a:cubicBezTo>
                  <a:lnTo>
                    <a:pt x="56670" y="3443658"/>
                  </a:lnTo>
                  <a:cubicBezTo>
                    <a:pt x="41640" y="3443658"/>
                    <a:pt x="27226" y="3437687"/>
                    <a:pt x="16598" y="3427060"/>
                  </a:cubicBezTo>
                  <a:cubicBezTo>
                    <a:pt x="5971" y="3416432"/>
                    <a:pt x="0" y="3402018"/>
                    <a:pt x="0" y="338698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2286638" cy="335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49738" y="2633573"/>
            <a:ext cx="14344636" cy="33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Increase marketing efforts in high-performing regions.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Launch loyalty programs to improve repeat purchases.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Focus inventory on high-demand products.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Reduce focus on low-profit product categories.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Use dashboards for faster business decision-making.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13112" y="8520444"/>
            <a:ext cx="7692376" cy="7692376"/>
          </a:xfrm>
          <a:custGeom>
            <a:avLst/>
            <a:gdLst/>
            <a:ahLst/>
            <a:cxnLst/>
            <a:rect r="r" b="b" t="t" l="l"/>
            <a:pathLst>
              <a:path h="7692376" w="7692376">
                <a:moveTo>
                  <a:pt x="0" y="0"/>
                </a:moveTo>
                <a:lnTo>
                  <a:pt x="7692376" y="0"/>
                </a:lnTo>
                <a:lnTo>
                  <a:pt x="7692376" y="7692377"/>
                </a:lnTo>
                <a:lnTo>
                  <a:pt x="0" y="7692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5324" y="5143500"/>
            <a:ext cx="4812609" cy="4786358"/>
          </a:xfrm>
          <a:custGeom>
            <a:avLst/>
            <a:gdLst/>
            <a:ahLst/>
            <a:cxnLst/>
            <a:rect r="r" b="b" t="t" l="l"/>
            <a:pathLst>
              <a:path h="4786358" w="4812609">
                <a:moveTo>
                  <a:pt x="0" y="0"/>
                </a:moveTo>
                <a:lnTo>
                  <a:pt x="4812609" y="0"/>
                </a:lnTo>
                <a:lnTo>
                  <a:pt x="4812609" y="4786358"/>
                </a:lnTo>
                <a:lnTo>
                  <a:pt x="0" y="478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41812" y="-5170031"/>
            <a:ext cx="7692376" cy="7692376"/>
          </a:xfrm>
          <a:custGeom>
            <a:avLst/>
            <a:gdLst/>
            <a:ahLst/>
            <a:cxnLst/>
            <a:rect r="r" b="b" t="t" l="l"/>
            <a:pathLst>
              <a:path h="7692376" w="7692376">
                <a:moveTo>
                  <a:pt x="0" y="0"/>
                </a:moveTo>
                <a:lnTo>
                  <a:pt x="7692376" y="0"/>
                </a:lnTo>
                <a:lnTo>
                  <a:pt x="7692376" y="7692376"/>
                </a:lnTo>
                <a:lnTo>
                  <a:pt x="0" y="7692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84719">
            <a:off x="-5378000" y="-1612755"/>
            <a:ext cx="7692376" cy="7692376"/>
          </a:xfrm>
          <a:custGeom>
            <a:avLst/>
            <a:gdLst/>
            <a:ahLst/>
            <a:cxnLst/>
            <a:rect r="r" b="b" t="t" l="l"/>
            <a:pathLst>
              <a:path h="7692376" w="7692376">
                <a:moveTo>
                  <a:pt x="0" y="0"/>
                </a:moveTo>
                <a:lnTo>
                  <a:pt x="7692376" y="0"/>
                </a:lnTo>
                <a:lnTo>
                  <a:pt x="7692376" y="7692376"/>
                </a:lnTo>
                <a:lnTo>
                  <a:pt x="0" y="7692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65877" y="2633573"/>
            <a:ext cx="14344636" cy="401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 i="true">
                <a:solidFill>
                  <a:srgbClr val="1C212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Expe</a:t>
            </a:r>
            <a:r>
              <a:rPr lang="en-US" b="true" sz="3800" i="true">
                <a:solidFill>
                  <a:srgbClr val="1C212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cted Business Impact: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Improved customer retention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Increased regional sales performance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Better inventory optimization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Higher profitability from high-margin products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• Faster and data-driven management decisions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5877" y="1095375"/>
            <a:ext cx="14591586" cy="77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334"/>
              </a:lnSpc>
              <a:spcBef>
                <a:spcPct val="0"/>
              </a:spcBef>
            </a:pPr>
            <a:r>
              <a:rPr lang="en-US" b="true" sz="5499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ROI Impact of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4063504"/>
            <a:ext cx="11923966" cy="156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DAHKqGbhyyE</dc:identifier>
  <dcterms:modified xsi:type="dcterms:W3CDTF">2011-08-01T06:04:30Z</dcterms:modified>
  <cp:revision>1</cp:revision>
  <dc:title>Customer Insights &amp; Sales Performance Dashboard for a Retail Business</dc:title>
</cp:coreProperties>
</file>